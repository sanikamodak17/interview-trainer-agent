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3" name="Shape 103"/>
          <p:cNvSpPr/>
          <p:nvPr>
            <p:ph type="sldImg"/>
          </p:nvPr>
        </p:nvSpPr>
        <p:spPr>
          <a:xfrm>
            <a:off x="1143000" y="685800"/>
            <a:ext cx="4572000" cy="3429000"/>
          </a:xfrm>
          <a:prstGeom prst="rect">
            <a:avLst/>
          </a:prstGeom>
        </p:spPr>
        <p:txBody>
          <a:bodyPr/>
          <a:lstStyle/>
          <a:p>
            <a:pPr/>
          </a:p>
        </p:txBody>
      </p:sp>
      <p:sp>
        <p:nvSpPr>
          <p:cNvPr id="104" name="Shape 10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21"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1" name="Google Shape;32;p25"/>
          <p:cNvSpPr txBox="1"/>
          <p:nvPr>
            <p:ph type="body" sz="half" idx="21"/>
          </p:nvPr>
        </p:nvSpPr>
        <p:spPr>
          <a:xfrm>
            <a:off x="6172200" y="1825625"/>
            <a:ext cx="5181600" cy="4351338"/>
          </a:xfrm>
          <a:prstGeom prst="rect">
            <a:avLst/>
          </a:prstGeom>
        </p:spPr>
        <p:txBody>
          <a:bodyPr/>
          <a:lstStyle/>
          <a:p>
            <a:pP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39" name="Title Text"/>
          <p:cNvSpPr txBox="1"/>
          <p:nvPr>
            <p:ph type="title"/>
          </p:nvPr>
        </p:nvSpPr>
        <p:spPr>
          <a:xfrm>
            <a:off x="839787" y="365125"/>
            <a:ext cx="10515601" cy="1325563"/>
          </a:xfrm>
          <a:prstGeom prst="rect">
            <a:avLst/>
          </a:prstGeom>
        </p:spPr>
        <p:txBody>
          <a:bodyPr/>
          <a:lstStyle/>
          <a:p>
            <a:pPr/>
            <a:r>
              <a:t>Title Text</a:t>
            </a:r>
          </a:p>
        </p:txBody>
      </p:sp>
      <p:sp>
        <p:nvSpPr>
          <p:cNvPr id="40"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1" name="Google Shape;39;p26"/>
          <p:cNvSpPr txBox="1"/>
          <p:nvPr>
            <p:ph type="body" sz="half" idx="21"/>
          </p:nvPr>
        </p:nvSpPr>
        <p:spPr>
          <a:xfrm>
            <a:off x="839787" y="2505075"/>
            <a:ext cx="5157788" cy="3684588"/>
          </a:xfrm>
          <a:prstGeom prst="rect">
            <a:avLst/>
          </a:prstGeom>
        </p:spPr>
        <p:txBody>
          <a:bodyPr/>
          <a:lstStyle/>
          <a:p>
            <a:pPr/>
          </a:p>
        </p:txBody>
      </p:sp>
      <p:sp>
        <p:nvSpPr>
          <p:cNvPr id="42" name="Google Shape;40;p26"/>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43" name="Google Shape;41;p26"/>
          <p:cNvSpPr txBox="1"/>
          <p:nvPr>
            <p:ph type="body" sz="half" idx="23"/>
          </p:nvPr>
        </p:nvSpPr>
        <p:spPr>
          <a:xfrm>
            <a:off x="6172200" y="2505075"/>
            <a:ext cx="5183188" cy="3684588"/>
          </a:xfrm>
          <a:prstGeom prst="rect">
            <a:avLst/>
          </a:prstGeom>
        </p:spPr>
        <p:txBody>
          <a:bodyPr/>
          <a:lstStyle/>
          <a:p>
            <a:pP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6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67"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68" name="Google Shape;57;p29"/>
          <p:cNvSpPr txBox="1"/>
          <p:nvPr>
            <p:ph type="body" sz="quarter" idx="21"/>
          </p:nvPr>
        </p:nvSpPr>
        <p:spPr>
          <a:xfrm>
            <a:off x="839787" y="2057400"/>
            <a:ext cx="3932238" cy="3811588"/>
          </a:xfrm>
          <a:prstGeom prst="rect">
            <a:avLst/>
          </a:prstGeom>
        </p:spPr>
        <p:txBody>
          <a:bodyPr/>
          <a:lstStyle/>
          <a:p>
            <a:pPr marL="228600" indent="0">
              <a:buClrTx/>
              <a:buSzTx/>
              <a:buFontTx/>
              <a:buNone/>
              <a:defRPr sz="1600"/>
            </a:pPr>
          </a:p>
        </p:txBody>
      </p:sp>
      <p:sp>
        <p:nvSpPr>
          <p:cNvPr id="6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76"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7" name="Google Shape;63;p30"/>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78"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86" name="Title Text"/>
          <p:cNvSpPr txBox="1"/>
          <p:nvPr>
            <p:ph type="title"/>
          </p:nvPr>
        </p:nvSpPr>
        <p:spPr>
          <a:prstGeom prst="rect">
            <a:avLst/>
          </a:prstGeom>
        </p:spPr>
        <p:txBody>
          <a:bodyPr/>
          <a:lstStyle/>
          <a:p>
            <a:pPr/>
            <a:r>
              <a:t>Title Text</a:t>
            </a:r>
          </a:p>
        </p:txBody>
      </p:sp>
      <p:sp>
        <p:nvSpPr>
          <p:cNvPr id="87" name="Body Level One…"/>
          <p:cNvSpPr txBox="1"/>
          <p:nvPr>
            <p:ph type="body" idx="1"/>
          </p:nvPr>
        </p:nvSpPr>
        <p:spPr>
          <a:xfrm rot="5400000">
            <a:off x="3920330" y="-1256506"/>
            <a:ext cx="4351339"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95" name="Title Text"/>
          <p:cNvSpPr txBox="1"/>
          <p:nvPr>
            <p:ph type="title"/>
          </p:nvPr>
        </p:nvSpPr>
        <p:spPr>
          <a:xfrm rot="5400000">
            <a:off x="7133431" y="1956593"/>
            <a:ext cx="5811839" cy="2628901"/>
          </a:xfrm>
          <a:prstGeom prst="rect">
            <a:avLst/>
          </a:prstGeom>
        </p:spPr>
        <p:txBody>
          <a:bodyPr/>
          <a:lstStyle/>
          <a:p>
            <a:pPr/>
            <a:r>
              <a:t>Title Text</a:t>
            </a:r>
          </a:p>
        </p:txBody>
      </p:sp>
      <p:sp>
        <p:nvSpPr>
          <p:cNvPr id="96"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sanikamodak17@gmail.com" TargetMode="Externa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831850" y="1709738"/>
            <a:ext cx="10515600" cy="2852738"/>
          </a:xfrm>
          <a:prstGeom prst="rect">
            <a:avLst/>
          </a:prstGeom>
        </p:spPr>
        <p:txBody>
          <a:bodyPr/>
          <a:lstStyle/>
          <a:p>
            <a:pPr algn="ctr">
              <a:defRPr b="1" sz="6600"/>
            </a:pPr>
            <a:r>
              <a:t>IBM University Engagement Project Submission</a:t>
            </a:r>
            <a:br/>
          </a:p>
        </p:txBody>
      </p:sp>
      <p:sp>
        <p:nvSpPr>
          <p:cNvPr id="107" name="Text Placeholder 2"/>
          <p:cNvSpPr txBox="1"/>
          <p:nvPr>
            <p:ph type="body" sz="quarter" idx="1"/>
          </p:nvPr>
        </p:nvSpPr>
        <p:spPr>
          <a:xfrm>
            <a:off x="1014730" y="3903662"/>
            <a:ext cx="10515601" cy="1500188"/>
          </a:xfrm>
          <a:prstGeom prst="rect">
            <a:avLst/>
          </a:prstGeom>
        </p:spPr>
        <p:txBody>
          <a:bodyPr/>
          <a:lstStyle>
            <a:lvl1pPr algn="ctr">
              <a:defRPr b="1" i="1"/>
            </a:lvl1pPr>
          </a:lstStyle>
          <a:p>
            <a:pPr/>
            <a:r>
              <a:t>“Exploring the Power of Agentic AI with IBM Granite and LangFlow”</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09" name="Google Shape;96;p2"/>
          <p:cNvGraphicFramePr/>
          <p:nvPr/>
        </p:nvGraphicFramePr>
        <p:xfrm>
          <a:off x="1299257" y="2600314"/>
          <a:ext cx="9394990" cy="216712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64867"/>
                <a:gridCol w="2443374"/>
                <a:gridCol w="2443374"/>
                <a:gridCol w="2443374"/>
              </a:tblGrid>
              <a:tr h="973237">
                <a:tc>
                  <a:txBody>
                    <a:bodyPr/>
                    <a:lstStyle/>
                    <a:p>
                      <a:pPr algn="ctr">
                        <a:defRPr sz="1800"/>
                      </a:pPr>
                      <a:r>
                        <a:rPr>
                          <a:sym typeface="Arial"/>
                        </a:rPr>
                        <a:t>Student Name</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Recent Passport Photo</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pPr>
                      <a:r>
                        <a:rPr>
                          <a:sym typeface="Arial"/>
                        </a:rPr>
                        <a:t>Email ID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c>
                  <a:txBody>
                    <a:bodyPr/>
                    <a:lstStyle/>
                    <a:p>
                      <a:pPr algn="ctr">
                        <a:defRPr sz="1800">
                          <a:sym typeface="Arial"/>
                        </a:defRPr>
                      </a:pPr>
                      <a:r>
                        <a:t>Mobile number</a:t>
                      </a:r>
                    </a:p>
                    <a:p>
                      <a:pPr algn="ctr">
                        <a:defRPr sz="1800">
                          <a:sym typeface="Arial"/>
                        </a:defRPr>
                      </a:pPr>
                      <a:r>
                        <a:t>[WhatsApp] </a:t>
                      </a:r>
                    </a:p>
                  </a:txBody>
                  <a:tcPr marL="45725" marR="45725" marT="45725" marB="45725" anchor="ctr" anchorCtr="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5"/>
                    </a:solidFill>
                  </a:tcPr>
                </a:tc>
              </a:tr>
              <a:tr h="1193891">
                <a:tc>
                  <a:txBody>
                    <a:bodyPr/>
                    <a:lstStyle/>
                    <a:p>
                      <a:pPr algn="l">
                        <a:defRPr sz="1800"/>
                      </a:pPr>
                      <a:r>
                        <a:rPr sz="1400">
                          <a:sym typeface="Arial"/>
                        </a:rPr>
                        <a:t>Sanika Vinod Modak</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400">
                          <a:sym typeface="Arial"/>
                        </a:defRPr>
                      </a:pPr>
                      <a:r>
                        <a:rPr u="sng">
                          <a:solidFill>
                            <a:srgbClr val="0563C1"/>
                          </a:solidFill>
                          <a:uFill>
                            <a:solidFill>
                              <a:srgbClr val="0563C1"/>
                            </a:solidFill>
                          </a:uFill>
                          <a:hlinkClick r:id="rId2" invalidUrl="" action="" tgtFrame="" tooltip="" history="1" highlightClick="0" endSnd="0"/>
                        </a:rPr>
                        <a:t>sanikamodak17@gmail.com</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c>
                  <a:txBody>
                    <a:bodyPr/>
                    <a:lstStyle/>
                    <a:p>
                      <a:pPr algn="l">
                        <a:defRPr sz="1800"/>
                      </a:pPr>
                      <a:r>
                        <a:rPr sz="1400">
                          <a:sym typeface="Arial"/>
                        </a:rPr>
                        <a:t>7972976997</a:t>
                      </a:r>
                    </a:p>
                  </a:txBody>
                  <a:tcPr marL="45725" marR="45725" marT="45725" marB="45725" anchor="t" anchorCtr="0" horzOverflow="overflow">
                    <a:lnL w="12700">
                      <a:solidFill>
                        <a:srgbClr val="FFFFFF"/>
                      </a:solidFill>
                    </a:lnL>
                    <a:lnR w="12700">
                      <a:solidFill>
                        <a:srgbClr val="FFFFFF"/>
                      </a:solidFill>
                    </a:lnR>
                    <a:lnT w="38100">
                      <a:solidFill>
                        <a:srgbClr val="FFFFFF"/>
                      </a:solidFill>
                    </a:lnT>
                    <a:lnB w="12700">
                      <a:solidFill>
                        <a:srgbClr val="FFFFFF"/>
                      </a:solidFill>
                    </a:lnB>
                    <a:solidFill>
                      <a:srgbClr val="D0DEEF"/>
                    </a:solidFill>
                  </a:tcPr>
                </a:tc>
              </a:tr>
            </a:tbl>
          </a:graphicData>
        </a:graphic>
      </p:graphicFrame>
      <p:sp>
        <p:nvSpPr>
          <p:cNvPr id="110" name="TextBox 3"/>
          <p:cNvSpPr txBox="1"/>
          <p:nvPr/>
        </p:nvSpPr>
        <p:spPr>
          <a:xfrm>
            <a:off x="1251884" y="1460724"/>
            <a:ext cx="10188814" cy="7926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Domain of  Project – Education / Career Development / Artificial Intelligence</a:t>
            </a:r>
          </a:p>
        </p:txBody>
      </p:sp>
      <p:sp>
        <p:nvSpPr>
          <p:cNvPr id="111" name="TextBox 6"/>
          <p:cNvSpPr txBox="1"/>
          <p:nvPr/>
        </p:nvSpPr>
        <p:spPr>
          <a:xfrm>
            <a:off x="1251881" y="551965"/>
            <a:ext cx="9489739"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Project Tile – AI-Powered Interview Trainer Agent</a:t>
            </a:r>
          </a:p>
        </p:txBody>
      </p:sp>
      <p:pic>
        <p:nvPicPr>
          <p:cNvPr id="112" name="pasted-movie.png" descr="pasted-movie.png"/>
          <p:cNvPicPr>
            <a:picLocks noChangeAspect="1"/>
          </p:cNvPicPr>
          <p:nvPr/>
        </p:nvPicPr>
        <p:blipFill>
          <a:blip r:embed="rId3">
            <a:extLst/>
          </a:blip>
          <a:stretch>
            <a:fillRect/>
          </a:stretch>
        </p:blipFill>
        <p:spPr>
          <a:xfrm>
            <a:off x="4106306" y="3593987"/>
            <a:ext cx="1029202" cy="115463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extBox 1"/>
          <p:cNvSpPr txBox="1"/>
          <p:nvPr/>
        </p:nvSpPr>
        <p:spPr>
          <a:xfrm>
            <a:off x="634491" y="1279423"/>
            <a:ext cx="10515602" cy="5590541"/>
          </a:xfrm>
          <a:prstGeom prst="rect">
            <a:avLst/>
          </a:prstGeom>
          <a:ln w="12700">
            <a:miter lim="400000"/>
          </a:ln>
          <a:extLst>
            <a:ext uri="{C572A759-6A51-4108-AA02-DFA0A04FC94B}">
              <ma14:wrappingTextBoxFlag xmlns:ma14="http://schemas.microsoft.com/office/mac/drawingml/2011/main" val="1"/>
            </a:ext>
          </a:extLst>
        </p:spPr>
        <p:txBody>
          <a:bodyPr lIns="45719" rIns="45719" anchor="b">
            <a:spAutoFit/>
          </a:bodyPr>
          <a:lstStyle/>
          <a:p>
            <a:pPr defTabSz="457200">
              <a:spcBef>
                <a:spcPts val="1400"/>
              </a:spcBef>
              <a:defRPr b="1" sz="2000">
                <a:latin typeface="Times Roman"/>
                <a:ea typeface="Times Roman"/>
                <a:cs typeface="Times Roman"/>
                <a:sym typeface="Times Roman"/>
              </a:defRPr>
            </a:pPr>
            <a:r>
              <a:t>Problem Statement : Interview Trainer Agent</a:t>
            </a:r>
          </a:p>
          <a:p>
            <a:pPr defTabSz="457200">
              <a:spcBef>
                <a:spcPts val="1400"/>
              </a:spcBef>
            </a:pPr>
            <a:r>
              <a:rPr b="1"/>
              <a:t>The Challenge:</a:t>
            </a:r>
            <a:r>
              <a:t> Job candidates often struggle to prepare effectively for interviews because interview questions, role expectations, technical requirements, and HR guidance are scattered across different sources. Traditional interview preparation platforms often provide generic questions without considering the candidate's resume, experience level, target role, or specific skill gaps.</a:t>
            </a:r>
          </a:p>
          <a:p>
            <a:pPr defTabSz="457200">
              <a:spcBef>
                <a:spcPts val="1400"/>
              </a:spcBef>
            </a:pPr>
            <a:r>
              <a:t>The Objective</a:t>
            </a:r>
          </a:p>
          <a:p>
            <a:pPr defTabSz="457200">
              <a:spcBef>
                <a:spcPts val="1200"/>
              </a:spcBef>
            </a:pPr>
            <a:r>
              <a:t>Build an </a:t>
            </a:r>
            <a:r>
              <a:rPr b="1"/>
              <a:t>AI-powered Interview Trainer Agent</a:t>
            </a:r>
            <a:r>
              <a:t> that provides personalized interview preparation based on a candidate's profile, experience, skills, resume, and target job role. The solution should:</a:t>
            </a:r>
          </a:p>
          <a:p>
            <a:pPr defTabSz="457200">
              <a:spcBef>
                <a:spcPts val="1200"/>
              </a:spcBef>
            </a:pPr>
            <a:r>
              <a:rPr b="1"/>
              <a:t>Personalized Interview Questions</a:t>
            </a:r>
            <a:r>
              <a:t> – Generate questions based on the candidate's profile, experience, skills, and target job role.</a:t>
            </a:r>
          </a:p>
          <a:p>
            <a:pPr defTabSz="457200">
              <a:spcBef>
                <a:spcPts val="1200"/>
              </a:spcBef>
            </a:pPr>
            <a:r>
              <a:rPr b="1"/>
              <a:t>RAG-Based Interview Knowledge Retrieval</a:t>
            </a:r>
            <a:r>
              <a:t> – Retrieve role-specific interview questions, industry expectations, behavioral scenarios, and HR guidelines from a knowledge base.</a:t>
            </a:r>
          </a:p>
          <a:p>
            <a:pPr defTabSz="457200">
              <a:spcBef>
                <a:spcPts val="1200"/>
              </a:spcBef>
            </a:pPr>
            <a:r>
              <a:rPr b="1"/>
              <a:t>Answer Evaluation &amp; Feedback</a:t>
            </a:r>
            <a:r>
              <a:t> – Evaluate candidate answers, provide scores, identify weaknesses, and suggest improvements.</a:t>
            </a:r>
          </a:p>
          <a:p>
            <a:pPr defTabSz="457200">
              <a:spcBef>
                <a:spcPts val="1200"/>
              </a:spcBef>
            </a:pPr>
            <a:r>
              <a:rPr b="1"/>
              <a:t>Model Answers</a:t>
            </a:r>
            <a:r>
              <a:t> – Generate relevant model answers to help candidates understand how strong responses can be structured.</a:t>
            </a:r>
          </a:p>
          <a:p>
            <a:pPr defTabSz="457200">
              <a:spcBef>
                <a:spcPts val="1200"/>
              </a:spcBef>
            </a:pPr>
            <a:r>
              <a:rPr b="1"/>
              <a:t>Preparation Strategy</a:t>
            </a:r>
            <a:r>
              <a:t> – Provide a structured preparation strategy covering technical, behavioral, HR, and soft-skill preparation.</a:t>
            </a:r>
          </a:p>
          <a:p>
            <a:pPr defTabSz="457200">
              <a:spcBef>
                <a:spcPts val="1200"/>
              </a:spcBef>
              <a:defRPr b="1">
                <a:latin typeface="Times Roman"/>
                <a:ea typeface="Times Roman"/>
                <a:cs typeface="Times Roman"/>
                <a:sym typeface="Times Roman"/>
              </a:defRPr>
            </a:pPr>
            <a:r>
              <a:t>Multi-Agent / Multi-Tool System</a:t>
            </a:r>
            <a:r>
              <a:rPr b="0"/>
              <a:t> –</a:t>
            </a:r>
            <a:endParaRPr b="0"/>
          </a:p>
          <a:p>
            <a:pPr marL="457200" indent="-317500" defTabSz="457200">
              <a:buSzPct val="100000"/>
              <a:buFont typeface="Times Roman"/>
              <a:buChar char="•"/>
              <a:defRPr>
                <a:latin typeface="Times Roman"/>
                <a:ea typeface="Times Roman"/>
                <a:cs typeface="Times Roman"/>
                <a:sym typeface="Times Roman"/>
              </a:defRPr>
            </a:pPr>
            <a:r>
              <a:t>Interview Question Generation Tool</a:t>
            </a:r>
          </a:p>
          <a:p>
            <a:pPr marL="457200" indent="-317500" defTabSz="457200">
              <a:buSzPct val="100000"/>
              <a:buFont typeface="Times Roman"/>
              <a:buChar char="•"/>
              <a:defRPr>
                <a:latin typeface="Times Roman"/>
                <a:ea typeface="Times Roman"/>
                <a:cs typeface="Times Roman"/>
                <a:sym typeface="Times Roman"/>
              </a:defRPr>
            </a:pPr>
            <a:r>
              <a:t>Interview Answer Evaluation Tool</a:t>
            </a:r>
          </a:p>
          <a:p>
            <a:pPr marL="457200" indent="-317500" defTabSz="457200">
              <a:buSzPct val="100000"/>
              <a:buFont typeface="Times Roman"/>
              <a:buChar char="•"/>
              <a:defRPr>
                <a:latin typeface="Times Roman"/>
                <a:ea typeface="Times Roman"/>
                <a:cs typeface="Times Roman"/>
                <a:sym typeface="Times Roman"/>
              </a:defRPr>
            </a:pPr>
            <a:r>
              <a:t>Preparation Strategy Tool</a:t>
            </a:r>
          </a:p>
          <a:p>
            <a:pPr marL="457200" indent="-317500" defTabSz="457200">
              <a:buSzPct val="100000"/>
              <a:buFont typeface="Times Roman"/>
              <a:buChar char="•"/>
              <a:defRPr>
                <a:latin typeface="Times Roman"/>
                <a:ea typeface="Times Roman"/>
                <a:cs typeface="Times Roman"/>
                <a:sym typeface="Times Roman"/>
              </a:defRPr>
            </a:pPr>
            <a:r>
              <a:t>Interview Preparation Flow</a:t>
            </a:r>
          </a:p>
        </p:txBody>
      </p:sp>
      <p:sp>
        <p:nvSpPr>
          <p:cNvPr id="115" name="TextBox 2"/>
          <p:cNvSpPr txBox="1"/>
          <p:nvPr/>
        </p:nvSpPr>
        <p:spPr>
          <a:xfrm>
            <a:off x="621791" y="704087"/>
            <a:ext cx="7123178"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Problem Statement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extBox 1"/>
          <p:cNvSpPr txBox="1"/>
          <p:nvPr/>
        </p:nvSpPr>
        <p:spPr>
          <a:xfrm>
            <a:off x="621791" y="1234439"/>
            <a:ext cx="10515602" cy="52472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pPr>
          </a:p>
          <a:p>
            <a:pPr defTabSz="457200">
              <a:spcBef>
                <a:spcPts val="1400"/>
              </a:spcBef>
              <a:defRPr b="1" sz="1800">
                <a:latin typeface="Times Roman"/>
                <a:ea typeface="Times Roman"/>
                <a:cs typeface="Times Roman"/>
                <a:sym typeface="Times Roman"/>
              </a:defRPr>
            </a:pPr>
            <a:r>
              <a:t>Proposed Solution: AI-Powered Interview Trainer Agent</a:t>
            </a:r>
          </a:p>
          <a:p>
            <a:pPr defTabSz="457200">
              <a:spcBef>
                <a:spcPts val="1200"/>
              </a:spcBef>
              <a:defRPr b="1" sz="1200">
                <a:latin typeface="Times Roman"/>
                <a:ea typeface="Times Roman"/>
                <a:cs typeface="Times Roman"/>
                <a:sym typeface="Times Roman"/>
              </a:defRPr>
            </a:pPr>
            <a:r>
              <a:rPr b="0"/>
              <a:t>The proposed solution is an </a:t>
            </a:r>
            <a:r>
              <a:t>Agentic AI interview preparation platform</a:t>
            </a:r>
            <a:r>
              <a:rPr b="0"/>
              <a:t> built using </a:t>
            </a:r>
            <a:r>
              <a:t>LangFlow, IBM Granite, RAG, FastAPI, and a web frontend</a:t>
            </a:r>
            <a:r>
              <a:rPr b="0"/>
              <a:t>.</a:t>
            </a:r>
            <a:endParaRPr b="0"/>
          </a:p>
          <a:p>
            <a:pPr defTabSz="457200">
              <a:spcBef>
                <a:spcPts val="1200"/>
              </a:spcBef>
              <a:defRPr sz="1200">
                <a:latin typeface="Times Roman"/>
                <a:ea typeface="Times Roman"/>
                <a:cs typeface="Times Roman"/>
                <a:sym typeface="Times Roman"/>
              </a:defRPr>
            </a:pPr>
            <a:r>
              <a:t>The system accepts a candidate's profile information, resume, experience level, and target job role.</a:t>
            </a:r>
          </a:p>
          <a:p>
            <a:pPr defTabSz="457200">
              <a:spcBef>
                <a:spcPts val="1200"/>
              </a:spcBef>
              <a:defRPr sz="1200">
                <a:latin typeface="Times Roman"/>
                <a:ea typeface="Times Roman"/>
                <a:cs typeface="Times Roman"/>
                <a:sym typeface="Times Roman"/>
              </a:defRPr>
            </a:pPr>
            <a:r>
              <a:t>A RAG-based knowledge system retrieves relevant interview questions, technical concepts, behavioral scenarios, HR guidelines, and role-specific expectations from the interview knowledge base.</a:t>
            </a:r>
          </a:p>
          <a:p>
            <a:pPr defTabSz="457200">
              <a:spcBef>
                <a:spcPts val="1400"/>
              </a:spcBef>
              <a:defRPr b="1">
                <a:latin typeface="Times Roman"/>
                <a:ea typeface="Times Roman"/>
                <a:cs typeface="Times Roman"/>
                <a:sym typeface="Times Roman"/>
              </a:defRPr>
            </a:pPr>
            <a:r>
              <a:t>Key capabilities:</a:t>
            </a:r>
          </a:p>
          <a:p>
            <a:pPr defTabSz="457200">
              <a:spcBef>
                <a:spcPts val="1200"/>
              </a:spcBef>
              <a:defRPr sz="1200">
                <a:latin typeface="Times Roman"/>
                <a:ea typeface="Times Roman"/>
                <a:cs typeface="Times Roman"/>
                <a:sym typeface="Times Roman"/>
              </a:defRPr>
            </a:pPr>
            <a:r>
              <a:rPr b="1"/>
              <a:t>1. Interview Question Generator</a:t>
            </a:r>
            <a:br/>
            <a:r>
              <a:t>Generates personalized technical, HR, behavioral, and role-specific interview questions.</a:t>
            </a:r>
          </a:p>
          <a:p>
            <a:pPr defTabSz="457200">
              <a:spcBef>
                <a:spcPts val="1200"/>
              </a:spcBef>
              <a:defRPr sz="1200">
                <a:latin typeface="Times Roman"/>
                <a:ea typeface="Times Roman"/>
                <a:cs typeface="Times Roman"/>
                <a:sym typeface="Times Roman"/>
              </a:defRPr>
            </a:pPr>
            <a:r>
              <a:rPr b="1"/>
              <a:t>2. Answer Evaluation Agent</a:t>
            </a:r>
            <a:br/>
            <a:r>
              <a:t>Evaluates candidate responses and provides a score, strengths, weaknesses, and improvement suggestions.</a:t>
            </a:r>
          </a:p>
          <a:p>
            <a:pPr defTabSz="457200">
              <a:spcBef>
                <a:spcPts val="1200"/>
              </a:spcBef>
              <a:defRPr sz="1200">
                <a:latin typeface="Times Roman"/>
                <a:ea typeface="Times Roman"/>
                <a:cs typeface="Times Roman"/>
                <a:sym typeface="Times Roman"/>
              </a:defRPr>
            </a:pPr>
            <a:r>
              <a:rPr b="1"/>
              <a:t>3. Preparation Strategy Agent</a:t>
            </a:r>
            <a:br/>
            <a:r>
              <a:t>Creates a personalized day-by-day preparation plan based on the candidate's role and skill gaps.</a:t>
            </a:r>
          </a:p>
          <a:p>
            <a:pPr defTabSz="457200">
              <a:spcBef>
                <a:spcPts val="1200"/>
              </a:spcBef>
              <a:defRPr sz="1200">
                <a:latin typeface="Times Roman"/>
                <a:ea typeface="Times Roman"/>
                <a:cs typeface="Times Roman"/>
                <a:sym typeface="Times Roman"/>
              </a:defRPr>
            </a:pPr>
            <a:r>
              <a:rPr b="1"/>
              <a:t>4. RAG Knowledge Retrieval</a:t>
            </a:r>
            <a:br/>
            <a:r>
              <a:t>Retrieves relevant interview knowledge before generating responses.</a:t>
            </a:r>
          </a:p>
          <a:p>
            <a:pPr defTabSz="457200">
              <a:spcBef>
                <a:spcPts val="1200"/>
              </a:spcBef>
              <a:defRPr sz="1200">
                <a:latin typeface="Times Roman"/>
                <a:ea typeface="Times Roman"/>
                <a:cs typeface="Times Roman"/>
                <a:sym typeface="Times Roman"/>
              </a:defRPr>
            </a:pPr>
            <a:r>
              <a:rPr b="1"/>
              <a:t>5. Interview Preparation Flow</a:t>
            </a:r>
            <a:br/>
            <a:r>
              <a:t>Combines question generation, answer evaluation, and preparation planning into one complete workflow.</a:t>
            </a:r>
          </a:p>
          <a:p>
            <a:pPr defTabSz="457200">
              <a:spcBef>
                <a:spcPts val="1200"/>
              </a:spcBef>
              <a:defRPr sz="1200">
                <a:latin typeface="Times Roman"/>
                <a:ea typeface="Times Roman"/>
                <a:cs typeface="Times Roman"/>
                <a:sym typeface="Times Roman"/>
              </a:defRPr>
            </a:pPr>
            <a:r>
              <a:rPr b="1"/>
              <a:t>6. Interactive Web Interface</a:t>
            </a:r>
            <a:br/>
            <a:r>
              <a:t>Provides a simple frontend for candidates to enter their details, practice questions, and receive AI-generated feedback.</a:t>
            </a:r>
          </a:p>
        </p:txBody>
      </p:sp>
      <p:sp>
        <p:nvSpPr>
          <p:cNvPr id="118" name="TextBox 2"/>
          <p:cNvSpPr txBox="1"/>
          <p:nvPr/>
        </p:nvSpPr>
        <p:spPr>
          <a:xfrm>
            <a:off x="621791" y="704087"/>
            <a:ext cx="7123178"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Proposed Solution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Box 1"/>
          <p:cNvSpPr txBox="1"/>
          <p:nvPr/>
        </p:nvSpPr>
        <p:spPr>
          <a:xfrm>
            <a:off x="822959" y="484631"/>
            <a:ext cx="7031737" cy="43707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Technology Used</a:t>
            </a:r>
          </a:p>
        </p:txBody>
      </p:sp>
      <p:sp>
        <p:nvSpPr>
          <p:cNvPr id="121" name="TextBox 2"/>
          <p:cNvSpPr txBox="1"/>
          <p:nvPr/>
        </p:nvSpPr>
        <p:spPr>
          <a:xfrm>
            <a:off x="883920" y="1138288"/>
            <a:ext cx="10424160" cy="47866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Clr>
                <a:srgbClr val="000000"/>
              </a:buClr>
              <a:buSzPct val="100000"/>
              <a:buFont typeface="Arial"/>
              <a:buChar char="•"/>
              <a:defRPr b="1"/>
            </a:pPr>
            <a:r>
              <a:t>Langflow platform </a:t>
            </a:r>
            <a:r>
              <a:rPr b="0"/>
              <a:t>-Used for visually designing and orchestrating the Agentic AI and RAG workflow.</a:t>
            </a:r>
          </a:p>
          <a:p>
            <a:pPr marL="285750" indent="-285750">
              <a:buClr>
                <a:srgbClr val="000000"/>
              </a:buClr>
              <a:buSzPct val="100000"/>
              <a:buFont typeface="Arial"/>
              <a:buChar char="•"/>
            </a:pPr>
          </a:p>
          <a:p>
            <a:pPr marL="285750" indent="-285750">
              <a:buClr>
                <a:srgbClr val="000000"/>
              </a:buClr>
              <a:buSzPct val="100000"/>
              <a:buFont typeface="Arial"/>
              <a:buChar char="•"/>
              <a:defRPr b="1"/>
            </a:pPr>
            <a:r>
              <a:t>IBM Grainte model </a:t>
            </a:r>
            <a:r>
              <a:rPr b="0"/>
              <a:t>-  for eg – ibm/granite-4-h-small – For natural language understanding, reasoning, and personalization</a:t>
            </a:r>
            <a:endParaRPr b="0"/>
          </a:p>
          <a:p>
            <a:pPr marL="285750" indent="-285750">
              <a:buClr>
                <a:srgbClr val="000000"/>
              </a:buClr>
              <a:buSzPct val="100000"/>
              <a:buFont typeface="Arial"/>
              <a:buChar char="•"/>
            </a:pPr>
          </a:p>
          <a:p>
            <a:pPr marL="140368" indent="-140368" defTabSz="457200">
              <a:spcBef>
                <a:spcPts val="1400"/>
              </a:spcBef>
              <a:buSzPct val="100000"/>
              <a:buChar char="•"/>
              <a:defRPr b="1"/>
            </a:pPr>
            <a:r>
              <a:t>   IBM watsonx.ai / IBM Cloud- </a:t>
            </a:r>
            <a:r>
              <a:rPr b="0"/>
              <a:t>Used to access and deploy IBM Granite models and provide the AI infrastructure.</a:t>
            </a:r>
            <a:endParaRPr b="0"/>
          </a:p>
          <a:p>
            <a:pPr marL="140368" indent="-140368" defTabSz="457200">
              <a:spcBef>
                <a:spcPts val="1400"/>
              </a:spcBef>
              <a:buSzPct val="100000"/>
              <a:buChar char="•"/>
              <a:defRPr b="1"/>
            </a:pPr>
            <a:r>
              <a:rPr b="0"/>
              <a:t>   </a:t>
            </a:r>
            <a:r>
              <a:t>RAG- </a:t>
            </a:r>
            <a:r>
              <a:rPr b="0"/>
              <a:t>Retrieval-Augmented Generation is used to retrieve relevant interview knowledge before generating responses.</a:t>
            </a:r>
            <a:endParaRPr b="0"/>
          </a:p>
          <a:p>
            <a:pPr marL="140368" indent="-140368" defTabSz="457200">
              <a:spcBef>
                <a:spcPts val="1400"/>
              </a:spcBef>
              <a:buSzPct val="100000"/>
              <a:buChar char="•"/>
              <a:defRPr b="1"/>
            </a:pPr>
            <a:r>
              <a:t>   Vector Knowledge Base- </a:t>
            </a:r>
            <a:r>
              <a:rPr b="0"/>
              <a:t>Used to store and retrieve interview-related knowledge such as:</a:t>
            </a:r>
            <a:endParaRPr b="0"/>
          </a:p>
          <a:p>
            <a:pPr marL="457200" indent="-317500" defTabSz="457200">
              <a:buSzPct val="100000"/>
              <a:buFont typeface="Times Roman"/>
              <a:buChar char="•"/>
              <a:defRPr>
                <a:latin typeface="Times Roman"/>
                <a:ea typeface="Times Roman"/>
                <a:cs typeface="Times Roman"/>
                <a:sym typeface="Times Roman"/>
              </a:defRPr>
            </a:pPr>
            <a:r>
              <a:t>Technical questions</a:t>
            </a:r>
          </a:p>
          <a:p>
            <a:pPr marL="457200" indent="-317500" defTabSz="457200">
              <a:buSzPct val="100000"/>
              <a:buFont typeface="Times Roman"/>
              <a:buChar char="•"/>
              <a:defRPr>
                <a:latin typeface="Times Roman"/>
                <a:ea typeface="Times Roman"/>
                <a:cs typeface="Times Roman"/>
                <a:sym typeface="Times Roman"/>
              </a:defRPr>
            </a:pPr>
            <a:r>
              <a:t>HR questions</a:t>
            </a:r>
          </a:p>
          <a:p>
            <a:pPr marL="457200" indent="-317500" defTabSz="457200">
              <a:buSzPct val="100000"/>
              <a:buFont typeface="Times Roman"/>
              <a:buChar char="•"/>
              <a:defRPr>
                <a:latin typeface="Times Roman"/>
                <a:ea typeface="Times Roman"/>
                <a:cs typeface="Times Roman"/>
                <a:sym typeface="Times Roman"/>
              </a:defRPr>
            </a:pPr>
            <a:r>
              <a:t>Behavioral scenarios</a:t>
            </a:r>
          </a:p>
          <a:p>
            <a:pPr marL="457200" indent="-317500" defTabSz="457200">
              <a:buSzPct val="100000"/>
              <a:buFont typeface="Times Roman"/>
              <a:buChar char="•"/>
              <a:defRPr>
                <a:latin typeface="Times Roman"/>
                <a:ea typeface="Times Roman"/>
                <a:cs typeface="Times Roman"/>
                <a:sym typeface="Times Roman"/>
              </a:defRPr>
            </a:pPr>
            <a:r>
              <a:t>Role expectations</a:t>
            </a:r>
          </a:p>
          <a:p>
            <a:pPr marL="457200" indent="-317500" defTabSz="457200">
              <a:buSzPct val="100000"/>
              <a:buFont typeface="Times Roman"/>
              <a:buChar char="•"/>
              <a:defRPr>
                <a:latin typeface="Times Roman"/>
                <a:ea typeface="Times Roman"/>
                <a:cs typeface="Times Roman"/>
                <a:sym typeface="Times Roman"/>
              </a:defRPr>
            </a:pPr>
            <a:r>
              <a:t>Interview preparation guidelines</a:t>
            </a:r>
          </a:p>
          <a:p>
            <a:pPr defTabSz="457200">
              <a:defRPr>
                <a:latin typeface="Times Roman"/>
                <a:ea typeface="Times Roman"/>
                <a:cs typeface="Times Roman"/>
                <a:sym typeface="Times Roman"/>
              </a:defRPr>
            </a:pPr>
          </a:p>
          <a:p>
            <a:pPr marL="140368" indent="-140368" defTabSz="457200">
              <a:spcBef>
                <a:spcPts val="1400"/>
              </a:spcBef>
              <a:buSzPct val="100000"/>
              <a:buChar char="•"/>
              <a:defRPr b="1"/>
            </a:pPr>
            <a:r>
              <a:t>FastAPI- </a:t>
            </a:r>
            <a:r>
              <a:rPr b="0"/>
              <a:t>Used as the backend API layer connecting the frontend with the AI services.</a:t>
            </a:r>
            <a:endParaRPr b="0"/>
          </a:p>
          <a:p>
            <a:pPr marL="140368" indent="-140368" defTabSz="457200">
              <a:spcBef>
                <a:spcPts val="1400"/>
              </a:spcBef>
              <a:buSzPct val="100000"/>
              <a:buChar char="•"/>
              <a:defRPr b="1"/>
            </a:pPr>
            <a:r>
              <a:t>HTML/CSS/JavaScript- </a:t>
            </a:r>
            <a:r>
              <a:rPr b="0"/>
              <a:t>Used to build the web-based frontend interface.</a:t>
            </a:r>
            <a:endParaRPr b="0"/>
          </a:p>
          <a:p>
            <a:pPr marL="285750" indent="-285750">
              <a:buClr>
                <a:srgbClr val="000000"/>
              </a:buClr>
              <a:buSzPct val="100000"/>
              <a:buFont typeface="Arial"/>
              <a:buChar char="•"/>
            </a:pPr>
          </a:p>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Google Shape;135;p5"/>
          <p:cNvSpPr txBox="1"/>
          <p:nvPr/>
        </p:nvSpPr>
        <p:spPr>
          <a:xfrm>
            <a:off x="537589" y="323238"/>
            <a:ext cx="5908931" cy="4891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pPr>
            <a:r>
              <a:t>Langflow</a:t>
            </a:r>
            <a:r>
              <a:rPr sz="3500">
                <a:solidFill>
                  <a:srgbClr val="051D3A"/>
                </a:solidFill>
                <a:latin typeface="Times New Roman"/>
                <a:ea typeface="Times New Roman"/>
                <a:cs typeface="Times New Roman"/>
                <a:sym typeface="Times New Roman"/>
              </a:rPr>
              <a:t> </a:t>
            </a:r>
            <a:r>
              <a:t>component Used -</a:t>
            </a:r>
          </a:p>
        </p:txBody>
      </p:sp>
      <p:sp>
        <p:nvSpPr>
          <p:cNvPr id="124" name="TextBox 1"/>
          <p:cNvSpPr txBox="1"/>
          <p:nvPr/>
        </p:nvSpPr>
        <p:spPr>
          <a:xfrm>
            <a:off x="520542" y="947788"/>
            <a:ext cx="8732520" cy="61132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p>
          <a:p>
            <a:pPr defTabSz="457200">
              <a:spcBef>
                <a:spcPts val="1400"/>
              </a:spcBef>
              <a:defRPr b="1" sz="1800">
                <a:latin typeface="Times Roman"/>
                <a:ea typeface="Times Roman"/>
                <a:cs typeface="Times Roman"/>
                <a:sym typeface="Times Roman"/>
              </a:defRPr>
            </a:pPr>
            <a:r>
              <a:t>LangFlow Components Used</a:t>
            </a:r>
          </a:p>
          <a:p>
            <a:pPr defTabSz="457200">
              <a:spcBef>
                <a:spcPts val="1400"/>
              </a:spcBef>
              <a:defRPr b="1">
                <a:latin typeface="Times Roman"/>
                <a:ea typeface="Times Roman"/>
                <a:cs typeface="Times Roman"/>
                <a:sym typeface="Times Roman"/>
              </a:defRPr>
            </a:pPr>
            <a:r>
              <a:t>1. Chat Input</a:t>
            </a:r>
          </a:p>
          <a:p>
            <a:pPr defTabSz="457200">
              <a:spcBef>
                <a:spcPts val="1200"/>
              </a:spcBef>
              <a:defRPr sz="1200">
                <a:latin typeface="Times Roman"/>
                <a:ea typeface="Times Roman"/>
                <a:cs typeface="Times Roman"/>
                <a:sym typeface="Times Roman"/>
              </a:defRPr>
            </a:pPr>
            <a:r>
              <a:t>Accepts candidate information, job role, experience level, interview queries, and candidate answers.</a:t>
            </a:r>
          </a:p>
          <a:p>
            <a:pPr defTabSz="457200">
              <a:spcBef>
                <a:spcPts val="1400"/>
              </a:spcBef>
              <a:defRPr b="1">
                <a:latin typeface="Times Roman"/>
                <a:ea typeface="Times Roman"/>
                <a:cs typeface="Times Roman"/>
                <a:sym typeface="Times Roman"/>
              </a:defRPr>
            </a:pPr>
            <a:r>
              <a:t>2. IBM watsonx AI / Granite Model</a:t>
            </a:r>
          </a:p>
          <a:p>
            <a:pPr defTabSz="457200">
              <a:spcBef>
                <a:spcPts val="1200"/>
              </a:spcBef>
              <a:defRPr sz="1200">
                <a:latin typeface="Times Roman"/>
                <a:ea typeface="Times Roman"/>
                <a:cs typeface="Times Roman"/>
                <a:sym typeface="Times Roman"/>
              </a:defRPr>
            </a:pPr>
            <a:r>
              <a:t>Processes user requests and generates intelligent interview-related responses.</a:t>
            </a:r>
          </a:p>
          <a:p>
            <a:pPr defTabSz="457200">
              <a:spcBef>
                <a:spcPts val="1400"/>
              </a:spcBef>
              <a:defRPr b="1">
                <a:latin typeface="Times Roman"/>
                <a:ea typeface="Times Roman"/>
                <a:cs typeface="Times Roman"/>
                <a:sym typeface="Times Roman"/>
              </a:defRPr>
            </a:pPr>
            <a:r>
              <a:t>3. RAG / Knowledge Retrieval</a:t>
            </a:r>
          </a:p>
          <a:p>
            <a:pPr defTabSz="457200">
              <a:spcBef>
                <a:spcPts val="1200"/>
              </a:spcBef>
              <a:defRPr sz="1200">
                <a:latin typeface="Times Roman"/>
                <a:ea typeface="Times Roman"/>
                <a:cs typeface="Times Roman"/>
                <a:sym typeface="Times Roman"/>
              </a:defRPr>
            </a:pPr>
            <a:r>
              <a:t>Retrieves relevant information from the interview knowledge base before generating answers.</a:t>
            </a:r>
          </a:p>
          <a:p>
            <a:pPr defTabSz="457200">
              <a:spcBef>
                <a:spcPts val="1400"/>
              </a:spcBef>
              <a:defRPr b="1">
                <a:latin typeface="Times Roman"/>
                <a:ea typeface="Times Roman"/>
                <a:cs typeface="Times Roman"/>
                <a:sym typeface="Times Roman"/>
              </a:defRPr>
            </a:pPr>
            <a:r>
              <a:t>4. Prompt / Instruction Component</a:t>
            </a:r>
          </a:p>
          <a:p>
            <a:pPr defTabSz="457200">
              <a:spcBef>
                <a:spcPts val="1200"/>
              </a:spcBef>
              <a:defRPr sz="1200">
                <a:latin typeface="Times Roman"/>
                <a:ea typeface="Times Roman"/>
                <a:cs typeface="Times Roman"/>
                <a:sym typeface="Times Roman"/>
              </a:defRPr>
            </a:pPr>
            <a:r>
              <a:t>Provides structured instructions to Granite for generating questions, evaluating answers, and creating preparation strategies.</a:t>
            </a:r>
          </a:p>
          <a:p>
            <a:pPr defTabSz="457200">
              <a:spcBef>
                <a:spcPts val="1400"/>
              </a:spcBef>
              <a:defRPr b="1">
                <a:latin typeface="Times Roman"/>
                <a:ea typeface="Times Roman"/>
                <a:cs typeface="Times Roman"/>
                <a:sym typeface="Times Roman"/>
              </a:defRPr>
            </a:pPr>
            <a:r>
              <a:t>5. Chat Output</a:t>
            </a:r>
          </a:p>
          <a:p>
            <a:pPr defTabSz="457200">
              <a:spcBef>
                <a:spcPts val="1200"/>
              </a:spcBef>
              <a:defRPr sz="1200">
                <a:latin typeface="Times Roman"/>
                <a:ea typeface="Times Roman"/>
                <a:cs typeface="Times Roman"/>
                <a:sym typeface="Times Roman"/>
              </a:defRPr>
            </a:pPr>
            <a:r>
              <a:t>Displays generated questions, model answers, scores, feedback, and preparation recommendations.</a:t>
            </a:r>
          </a:p>
          <a:p>
            <a:pPr defTabSz="457200">
              <a:spcBef>
                <a:spcPts val="1400"/>
              </a:spcBef>
              <a:defRPr b="1">
                <a:latin typeface="Times Roman"/>
                <a:ea typeface="Times Roman"/>
                <a:cs typeface="Times Roman"/>
                <a:sym typeface="Times Roman"/>
              </a:defRPr>
            </a:pPr>
            <a:r>
              <a:t>6. File / Document Component</a:t>
            </a:r>
          </a:p>
          <a:p>
            <a:pPr defTabSz="457200">
              <a:spcBef>
                <a:spcPts val="1200"/>
              </a:spcBef>
              <a:defRPr sz="1200">
                <a:latin typeface="Times Roman"/>
                <a:ea typeface="Times Roman"/>
                <a:cs typeface="Times Roman"/>
                <a:sym typeface="Times Roman"/>
              </a:defRPr>
            </a:pPr>
            <a:r>
              <a:t>Supports interview knowledge documents and candidate resume information.</a:t>
            </a:r>
          </a:p>
          <a:p>
            <a:pPr defTabSz="457200">
              <a:spcBef>
                <a:spcPts val="1400"/>
              </a:spcBef>
              <a:defRPr b="1">
                <a:latin typeface="Times Roman"/>
                <a:ea typeface="Times Roman"/>
                <a:cs typeface="Times Roman"/>
                <a:sym typeface="Times Roman"/>
              </a:defRPr>
            </a:pPr>
            <a:r>
              <a:t>7. Flow / Agent Orchestration</a:t>
            </a:r>
          </a:p>
          <a:p>
            <a:pPr defTabSz="457200">
              <a:spcBef>
                <a:spcPts val="1200"/>
              </a:spcBef>
              <a:defRPr sz="1200">
                <a:latin typeface="Times Roman"/>
                <a:ea typeface="Times Roman"/>
                <a:cs typeface="Times Roman"/>
                <a:sym typeface="Times Roman"/>
              </a:defRPr>
            </a:pPr>
            <a:r>
              <a:t>Coordinates the different AI capabilities into a complete interview preparation workflow.</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Google Shape;135;p5"/>
          <p:cNvSpPr txBox="1"/>
          <p:nvPr/>
        </p:nvSpPr>
        <p:spPr>
          <a:xfrm>
            <a:off x="537589" y="323238"/>
            <a:ext cx="5908931" cy="4891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pPr>
            <a:r>
              <a:t>Langflow</a:t>
            </a:r>
            <a:r>
              <a:rPr sz="3500">
                <a:solidFill>
                  <a:srgbClr val="051D3A"/>
                </a:solidFill>
                <a:latin typeface="Times New Roman"/>
                <a:ea typeface="Times New Roman"/>
                <a:cs typeface="Times New Roman"/>
                <a:sym typeface="Times New Roman"/>
              </a:rPr>
              <a:t> </a:t>
            </a:r>
            <a:r>
              <a:t>workflow -</a:t>
            </a:r>
          </a:p>
        </p:txBody>
      </p:sp>
      <p:pic>
        <p:nvPicPr>
          <p:cNvPr id="127" name="pasted-movie.png" descr="pasted-movie.png"/>
          <p:cNvPicPr>
            <a:picLocks noChangeAspect="1"/>
          </p:cNvPicPr>
          <p:nvPr/>
        </p:nvPicPr>
        <p:blipFill>
          <a:blip r:embed="rId2">
            <a:extLst/>
          </a:blip>
          <a:stretch>
            <a:fillRect/>
          </a:stretch>
        </p:blipFill>
        <p:spPr>
          <a:xfrm>
            <a:off x="2424491" y="924029"/>
            <a:ext cx="7343018" cy="5290218"/>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Google Shape;135;p5"/>
          <p:cNvSpPr txBox="1"/>
          <p:nvPr/>
        </p:nvSpPr>
        <p:spPr>
          <a:xfrm>
            <a:off x="537589" y="323238"/>
            <a:ext cx="5908931" cy="301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400">
                <a:latin typeface="Calibri"/>
                <a:ea typeface="Calibri"/>
                <a:cs typeface="Calibri"/>
                <a:sym typeface="Calibri"/>
              </a:defRPr>
            </a:lvl1pPr>
          </a:lstStyle>
          <a:p>
            <a:pPr/>
            <a:r>
              <a:t>Architecture blueprint</a:t>
            </a:r>
          </a:p>
        </p:txBody>
      </p:sp>
      <p:pic>
        <p:nvPicPr>
          <p:cNvPr id="130" name="pasted-movie.png" descr="pasted-movie.png"/>
          <p:cNvPicPr>
            <a:picLocks noChangeAspect="1"/>
          </p:cNvPicPr>
          <p:nvPr/>
        </p:nvPicPr>
        <p:blipFill>
          <a:blip r:embed="rId2">
            <a:extLst/>
          </a:blip>
          <a:stretch>
            <a:fillRect/>
          </a:stretch>
        </p:blipFill>
        <p:spPr>
          <a:xfrm>
            <a:off x="764008" y="621963"/>
            <a:ext cx="10913571" cy="625939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2" name="Google Shape;196;p9" descr="Google Shape;196;p9"/>
          <p:cNvPicPr>
            <a:picLocks noChangeAspect="1"/>
          </p:cNvPicPr>
          <p:nvPr/>
        </p:nvPicPr>
        <p:blipFill>
          <a:blip r:embed="rId2">
            <a:extLst/>
          </a:blip>
          <a:stretch>
            <a:fillRect/>
          </a:stretch>
        </p:blipFill>
        <p:spPr>
          <a:xfrm>
            <a:off x="8371985" y="1167492"/>
            <a:ext cx="3015344" cy="4523015"/>
          </a:xfrm>
          <a:prstGeom prst="rect">
            <a:avLst/>
          </a:prstGeom>
          <a:ln w="12700">
            <a:miter lim="400000"/>
          </a:ln>
        </p:spPr>
      </p:pic>
      <p:sp>
        <p:nvSpPr>
          <p:cNvPr id="133" name="TextBox 1"/>
          <p:cNvSpPr txBox="1"/>
          <p:nvPr/>
        </p:nvSpPr>
        <p:spPr>
          <a:xfrm>
            <a:off x="521208" y="283463"/>
            <a:ext cx="9226296" cy="5480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vl1pPr>
          </a:lstStyle>
          <a:p>
            <a:pPr/>
            <a:r>
              <a:t>Role of Agentic AI in the solution </a:t>
            </a:r>
          </a:p>
        </p:txBody>
      </p:sp>
      <p:sp>
        <p:nvSpPr>
          <p:cNvPr id="134" name="TextBox 2"/>
          <p:cNvSpPr txBox="1"/>
          <p:nvPr/>
        </p:nvSpPr>
        <p:spPr>
          <a:xfrm>
            <a:off x="667511" y="1167492"/>
            <a:ext cx="7315202" cy="46322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400"/>
              </a:spcBef>
              <a:defRPr b="1" sz="1500"/>
            </a:pPr>
            <a:r>
              <a:t>Role of Agentic AI in Interview Trainer Agent</a:t>
            </a:r>
          </a:p>
          <a:p>
            <a:pPr defTabSz="457200">
              <a:spcBef>
                <a:spcPts val="1200"/>
              </a:spcBef>
              <a:defRPr sz="1500"/>
            </a:pPr>
            <a:r>
              <a:t>Agentic AI enables the Interview Trainer Agent to function as an intelligent and goal-oriented system rather than a simple chatbot. Using </a:t>
            </a:r>
            <a:r>
              <a:rPr b="1"/>
              <a:t>IBM watsonx.ai and IBM Granite</a:t>
            </a:r>
            <a:r>
              <a:t>, the system can coordinate multiple specialized interview preparation tasks.</a:t>
            </a:r>
          </a:p>
          <a:p>
            <a:pPr defTabSz="457200">
              <a:spcBef>
                <a:spcPts val="1200"/>
              </a:spcBef>
              <a:defRPr sz="1500"/>
            </a:pPr>
            <a:r>
              <a:t>Each specialized tool performs a specific role, such as generating interview questions, evaluating candidate answers, or building a preparation strategy.</a:t>
            </a:r>
          </a:p>
          <a:p>
            <a:pPr defTabSz="457200">
              <a:spcBef>
                <a:spcPts val="1200"/>
              </a:spcBef>
              <a:defRPr sz="1500"/>
            </a:pPr>
            <a:r>
              <a:t>The Agentic AI approach enables the system to understand the candidate's context, including their profile, skills, experience, and target job role, and use this information to provide more relevant interview preparation.</a:t>
            </a:r>
          </a:p>
          <a:p>
            <a:pPr defTabSz="457200">
              <a:spcBef>
                <a:spcPts val="1200"/>
              </a:spcBef>
              <a:defRPr sz="1500"/>
            </a:pPr>
            <a:r>
              <a:t>RAG allows the system to retrieve relevant interview knowledge before generating responses, helping the agent provide role-specific and context-aware guidance.</a:t>
            </a:r>
          </a:p>
          <a:p>
            <a:pPr defTabSz="457200">
              <a:spcBef>
                <a:spcPts val="1200"/>
              </a:spcBef>
              <a:defRPr sz="1500"/>
            </a:pPr>
            <a:r>
              <a:t>The system can also evaluate candidate responses and provide improvement suggestions, creating a feedback loop that supports continuous preparation.</a:t>
            </a:r>
          </a:p>
          <a:p>
            <a:pPr defTabSz="457200">
              <a:spcBef>
                <a:spcPts val="1200"/>
              </a:spcBef>
              <a:defRPr b="1" sz="1500"/>
            </a:pPr>
            <a:r>
              <a:rPr b="0"/>
              <a:t>Overall, Agentic AI makes the Interview Trainer Agent </a:t>
            </a:r>
            <a:r>
              <a:t>personalized, context-aware, task-oriented, and interactive</a:t>
            </a:r>
            <a:r>
              <a:rPr b="0"/>
              <a:t>, acting as an intelligent digital interview coach.</a:t>
            </a:r>
            <a:endParaRPr b="0"/>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Google Shape;278;p18"/>
          <p:cNvSpPr txBox="1"/>
          <p:nvPr/>
        </p:nvSpPr>
        <p:spPr>
          <a:xfrm>
            <a:off x="793191" y="341559"/>
            <a:ext cx="6444498" cy="3456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Token Usage </a:t>
            </a:r>
          </a:p>
        </p:txBody>
      </p:sp>
      <p:sp>
        <p:nvSpPr>
          <p:cNvPr id="137"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8"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39"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40" name="TextBox 13"/>
          <p:cNvSpPr txBox="1"/>
          <p:nvPr/>
        </p:nvSpPr>
        <p:spPr>
          <a:xfrm>
            <a:off x="1324358" y="1718067"/>
            <a:ext cx="2651761"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u="sng"/>
            </a:lvl1pPr>
          </a:lstStyle>
          <a:p>
            <a:pPr/>
            <a:r>
              <a:t>Before Prompt</a:t>
            </a:r>
          </a:p>
        </p:txBody>
      </p:sp>
      <p:sp>
        <p:nvSpPr>
          <p:cNvPr id="141" name="TextBox 14"/>
          <p:cNvSpPr txBox="1"/>
          <p:nvPr/>
        </p:nvSpPr>
        <p:spPr>
          <a:xfrm>
            <a:off x="7152548" y="1722919"/>
            <a:ext cx="2651760"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u="sng"/>
            </a:lvl1pPr>
          </a:lstStyle>
          <a:p>
            <a:pPr/>
            <a:r>
              <a:t>After the Prompt</a:t>
            </a:r>
          </a:p>
        </p:txBody>
      </p:sp>
      <p:pic>
        <p:nvPicPr>
          <p:cNvPr id="142" name="pasted-movie.png" descr="pasted-movie.png"/>
          <p:cNvPicPr>
            <a:picLocks noChangeAspect="1"/>
          </p:cNvPicPr>
          <p:nvPr/>
        </p:nvPicPr>
        <p:blipFill>
          <a:blip r:embed="rId2">
            <a:extLst/>
          </a:blip>
          <a:stretch>
            <a:fillRect/>
          </a:stretch>
        </p:blipFill>
        <p:spPr>
          <a:xfrm>
            <a:off x="6305826" y="2461786"/>
            <a:ext cx="5191959" cy="2402832"/>
          </a:xfrm>
          <a:prstGeom prst="rect">
            <a:avLst/>
          </a:prstGeom>
          <a:ln w="12700">
            <a:miter lim="400000"/>
          </a:ln>
        </p:spPr>
      </p:pic>
      <p:pic>
        <p:nvPicPr>
          <p:cNvPr id="143" name="pasted-movie.png" descr="pasted-movie.png"/>
          <p:cNvPicPr>
            <a:picLocks noChangeAspect="1"/>
          </p:cNvPicPr>
          <p:nvPr/>
        </p:nvPicPr>
        <p:blipFill>
          <a:blip r:embed="rId3">
            <a:extLst/>
          </a:blip>
          <a:stretch>
            <a:fillRect/>
          </a:stretch>
        </p:blipFill>
        <p:spPr>
          <a:xfrm>
            <a:off x="234680" y="2659393"/>
            <a:ext cx="4831117" cy="2205225"/>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extBox 1"/>
          <p:cNvSpPr txBox="1"/>
          <p:nvPr/>
        </p:nvSpPr>
        <p:spPr>
          <a:xfrm>
            <a:off x="822959" y="484632"/>
            <a:ext cx="7031738" cy="43706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Novelty and Uniqueness</a:t>
            </a:r>
          </a:p>
        </p:txBody>
      </p:sp>
      <p:sp>
        <p:nvSpPr>
          <p:cNvPr id="146" name="TextBox 2"/>
          <p:cNvSpPr txBox="1"/>
          <p:nvPr/>
        </p:nvSpPr>
        <p:spPr>
          <a:xfrm>
            <a:off x="822960" y="926732"/>
            <a:ext cx="11210544" cy="61953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b="1" sz="1600"/>
            </a:pPr>
            <a:r>
              <a:rPr b="0"/>
              <a:t>The proposed </a:t>
            </a:r>
            <a:r>
              <a:t>Interview Trainer Agent</a:t>
            </a:r>
            <a:r>
              <a:rPr b="0"/>
              <a:t> stands out by combining Agentic AI, RAG, IBM Granite, and personalized interview preparation into a single intelligent system.</a:t>
            </a:r>
            <a:endParaRPr b="0"/>
          </a:p>
          <a:p>
            <a:pPr defTabSz="457200">
              <a:spcBef>
                <a:spcPts val="1200"/>
              </a:spcBef>
              <a:defRPr sz="1600"/>
            </a:pPr>
            <a:r>
              <a:rPr b="1"/>
              <a:t>Personalized Interview Training</a:t>
            </a:r>
            <a:r>
              <a:t> – Generates questions according to the candidate's profile, skills, experience, and target role.</a:t>
            </a:r>
          </a:p>
          <a:p>
            <a:pPr defTabSz="457200">
              <a:spcBef>
                <a:spcPts val="1200"/>
              </a:spcBef>
              <a:defRPr sz="1600"/>
            </a:pPr>
            <a:r>
              <a:rPr b="1"/>
              <a:t>RAG-Based Interview Intelligence</a:t>
            </a:r>
            <a:r>
              <a:t> – Retrieves relevant interview knowledge before generating responses.</a:t>
            </a:r>
          </a:p>
          <a:p>
            <a:pPr defTabSz="457200">
              <a:spcBef>
                <a:spcPts val="1200"/>
              </a:spcBef>
              <a:defRPr sz="1600"/>
            </a:pPr>
            <a:r>
              <a:rPr b="1"/>
              <a:t>Multi-Tool Intelligence</a:t>
            </a:r>
            <a:r>
              <a:t> – Uses specialized tools for question generation, answer evaluation, and preparation strategy.</a:t>
            </a:r>
          </a:p>
          <a:p>
            <a:pPr defTabSz="457200">
              <a:spcBef>
                <a:spcPts val="1200"/>
              </a:spcBef>
              <a:defRPr sz="1600"/>
            </a:pPr>
            <a:r>
              <a:rPr b="1"/>
              <a:t>AI-Based Answer Evaluation</a:t>
            </a:r>
            <a:r>
              <a:t> – Evaluates candidate responses, provides scores, identifies weaknesses, and suggests improvements.</a:t>
            </a:r>
          </a:p>
          <a:p>
            <a:pPr defTabSz="457200">
              <a:spcBef>
                <a:spcPts val="1200"/>
              </a:spcBef>
              <a:defRPr sz="1600"/>
            </a:pPr>
            <a:r>
              <a:rPr b="1"/>
              <a:t>Role-Specific Preparation</a:t>
            </a:r>
            <a:r>
              <a:t> – Tailors interview preparation according to the selected job role and industry expectations.</a:t>
            </a:r>
          </a:p>
          <a:p>
            <a:pPr defTabSz="457200">
              <a:spcBef>
                <a:spcPts val="1200"/>
              </a:spcBef>
              <a:defRPr sz="1600"/>
            </a:pPr>
            <a:r>
              <a:rPr b="1"/>
              <a:t>Model Answer Generation</a:t>
            </a:r>
            <a:r>
              <a:t> – Provides example answers to help candidates understand effective response structures.</a:t>
            </a:r>
          </a:p>
          <a:p>
            <a:pPr defTabSz="457200">
              <a:spcBef>
                <a:spcPts val="1200"/>
              </a:spcBef>
              <a:defRPr sz="1600"/>
            </a:pPr>
            <a:r>
              <a:rPr b="1"/>
              <a:t>Structured Preparation Strategy</a:t>
            </a:r>
            <a:r>
              <a:t> – Creates a focused preparation plan instead of providing only a list of questions.</a:t>
            </a:r>
          </a:p>
          <a:p>
            <a:pPr defTabSz="457200">
              <a:spcBef>
                <a:spcPts val="1200"/>
              </a:spcBef>
              <a:defRPr sz="1600"/>
            </a:pPr>
            <a:r>
              <a:rPr b="1"/>
              <a:t>Interactive Feedback Loop</a:t>
            </a:r>
            <a:r>
              <a:t> – Allows candidates to improve their preparation using AI-generated feedback.</a:t>
            </a:r>
          </a:p>
          <a:p>
            <a:pPr defTabSz="457200">
              <a:spcBef>
                <a:spcPts val="1200"/>
              </a:spcBef>
              <a:defRPr sz="1600"/>
            </a:pPr>
            <a:r>
              <a:rPr b="1"/>
              <a:t>IBM Granite Integration</a:t>
            </a:r>
            <a:r>
              <a:t> – Uses IBM Granite through IBM watsonx.ai for the core AI capabilities.</a:t>
            </a:r>
          </a:p>
          <a:p>
            <a:pPr defTabSz="457200">
              <a:spcBef>
                <a:spcPts val="1200"/>
              </a:spcBef>
              <a:defRPr sz="1600"/>
            </a:pPr>
            <a:r>
              <a:t>This makes the solution an intelligent and personalized digital interview coach rather than a static interview question generator.</a:t>
            </a:r>
          </a:p>
          <a:p>
            <a:pPr defTabSz="457200">
              <a:defRPr sz="1600">
                <a:solidFill>
                  <a:srgbClr val="808080"/>
                </a:solidFill>
              </a:defRPr>
            </a:pPr>
          </a:p>
          <a:p>
            <a:pPr defTabSz="457200">
              <a:spcBef>
                <a:spcPts val="1600"/>
              </a:spcBef>
              <a:defRPr b="1" sz="2400">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Git Hub Link</a:t>
            </a:r>
          </a:p>
        </p:txBody>
      </p:sp>
      <p:sp>
        <p:nvSpPr>
          <p:cNvPr id="149" name="Google Shape;279;p18"/>
          <p:cNvSpPr txBox="1"/>
          <p:nvPr/>
        </p:nvSpPr>
        <p:spPr>
          <a:xfrm>
            <a:off x="1218723" y="1153712"/>
            <a:ext cx="9214582" cy="15363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2162"/>
              </a:lnSpc>
              <a:defRPr sz="1800">
                <a:solidFill>
                  <a:srgbClr val="2B3541"/>
                </a:solidFill>
                <a:latin typeface="Times New Roman"/>
                <a:ea typeface="Times New Roman"/>
                <a:cs typeface="Times New Roman"/>
                <a:sym typeface="Times New Roman"/>
              </a:defRPr>
            </a:pPr>
            <a:r>
              <a:t>Github URL – </a:t>
            </a:r>
          </a:p>
          <a:p>
            <a:pPr>
              <a:lnSpc>
                <a:spcPct val="162162"/>
              </a:lnSpc>
              <a:defRPr sz="1800">
                <a:solidFill>
                  <a:srgbClr val="2B3541"/>
                </a:solidFill>
                <a:latin typeface="Times New Roman"/>
                <a:ea typeface="Times New Roman"/>
                <a:cs typeface="Times New Roman"/>
                <a:sym typeface="Times New Roman"/>
              </a:defRPr>
            </a:pPr>
            <a:r>
              <a:t>https://github.com/sanikamodak17/interview-trainer-agent.git</a:t>
            </a:r>
          </a:p>
          <a:p>
            <a:pPr>
              <a:lnSpc>
                <a:spcPct val="162162"/>
              </a:lnSpc>
              <a:defRPr b="1" sz="1800">
                <a:solidFill>
                  <a:srgbClr val="2B3541"/>
                </a:solidFill>
                <a:latin typeface="Times New Roman"/>
                <a:ea typeface="Times New Roman"/>
                <a:cs typeface="Times New Roman"/>
                <a:sym typeface="Times New Roman"/>
              </a:defRPr>
            </a:pPr>
          </a:p>
        </p:txBody>
      </p:sp>
      <p:sp>
        <p:nvSpPr>
          <p:cNvPr id="150" name="Google Shape;280;p18"/>
          <p:cNvSpPr txBox="1"/>
          <p:nvPr/>
        </p:nvSpPr>
        <p:spPr>
          <a:xfrm>
            <a:off x="1066324" y="330050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1"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2"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Google Shape;278;p18"/>
          <p:cNvSpPr txBox="1"/>
          <p:nvPr/>
        </p:nvSpPr>
        <p:spPr>
          <a:xfrm>
            <a:off x="1218723" y="420729"/>
            <a:ext cx="6444498"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7142"/>
              </a:lnSpc>
              <a:defRPr b="1" sz="2400"/>
            </a:lvl1pPr>
          </a:lstStyle>
          <a:p>
            <a:pPr/>
            <a:r>
              <a:t>Future Scope </a:t>
            </a:r>
          </a:p>
        </p:txBody>
      </p:sp>
      <p:sp>
        <p:nvSpPr>
          <p:cNvPr id="155" name="Google Shape;279;p18"/>
          <p:cNvSpPr txBox="1"/>
          <p:nvPr/>
        </p:nvSpPr>
        <p:spPr>
          <a:xfrm>
            <a:off x="1218723" y="1221714"/>
            <a:ext cx="9214582" cy="5303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400"/>
              </a:spcBef>
              <a:defRPr b="1" sz="1600"/>
            </a:pPr>
            <a:r>
              <a:t>1. Voice-Based Mock Interviews</a:t>
            </a:r>
          </a:p>
          <a:p>
            <a:pPr defTabSz="457200">
              <a:spcBef>
                <a:spcPts val="1200"/>
              </a:spcBef>
              <a:defRPr sz="1600"/>
            </a:pPr>
            <a:r>
              <a:t>The system can be enhanced with voice input and speech output to conduct realistic voice-based mock interviews.</a:t>
            </a:r>
          </a:p>
          <a:p>
            <a:pPr defTabSz="457200">
              <a:spcBef>
                <a:spcPts val="1400"/>
              </a:spcBef>
              <a:defRPr b="1" sz="1600"/>
            </a:pPr>
            <a:r>
              <a:t>2. Real-Time Adaptive Interviews</a:t>
            </a:r>
          </a:p>
          <a:p>
            <a:pPr defTabSz="457200">
              <a:spcBef>
                <a:spcPts val="1200"/>
              </a:spcBef>
              <a:defRPr sz="1600"/>
            </a:pPr>
            <a:r>
              <a:t>The agent can dynamically select the next question based on the candidate's previous answer, performance, and difficulty level.</a:t>
            </a:r>
          </a:p>
          <a:p>
            <a:pPr defTabSz="457200">
              <a:spcBef>
                <a:spcPts val="1400"/>
              </a:spcBef>
              <a:defRPr b="1" sz="1600"/>
            </a:pPr>
            <a:r>
              <a:t>3. Resume-to-Interview Pipeline</a:t>
            </a:r>
          </a:p>
          <a:p>
            <a:pPr defTabSz="457200">
              <a:spcBef>
                <a:spcPts val="1200"/>
              </a:spcBef>
              <a:defRPr sz="1600"/>
            </a:pPr>
            <a:r>
              <a:t>The system can automatically analyze a candidate's resume and generate interview questions based on their projects, skills, education, and experience.</a:t>
            </a:r>
          </a:p>
          <a:p>
            <a:pPr defTabSz="457200">
              <a:spcBef>
                <a:spcPts val="1400"/>
              </a:spcBef>
              <a:defRPr b="1" sz="1600"/>
            </a:pPr>
            <a:r>
              <a:t>4. Job Description Analysis</a:t>
            </a:r>
          </a:p>
          <a:p>
            <a:pPr defTabSz="457200">
              <a:spcBef>
                <a:spcPts val="1200"/>
              </a:spcBef>
              <a:defRPr sz="1600"/>
            </a:pPr>
            <a:r>
              <a:t>Users can upload a job description and receive interview preparation specifically aligned with the requirements of that position.</a:t>
            </a:r>
          </a:p>
          <a:p>
            <a:pPr defTabSz="457200">
              <a:spcBef>
                <a:spcPts val="1400"/>
              </a:spcBef>
              <a:defRPr b="1" sz="1600"/>
            </a:pPr>
            <a:r>
              <a:t>5. Company-Specific Interview Preparation</a:t>
            </a:r>
          </a:p>
          <a:p>
            <a:pPr defTabSz="457200">
              <a:spcBef>
                <a:spcPts val="1200"/>
              </a:spcBef>
              <a:defRPr sz="1600"/>
            </a:pPr>
            <a:r>
              <a:t>The system can provide preparation based on company-specific interview patterns, technologies, and expectations.</a:t>
            </a:r>
          </a:p>
        </p:txBody>
      </p:sp>
      <p:sp>
        <p:nvSpPr>
          <p:cNvPr id="156" name="Google Shape;280;p18"/>
          <p:cNvSpPr txBox="1"/>
          <p:nvPr/>
        </p:nvSpPr>
        <p:spPr>
          <a:xfrm>
            <a:off x="1218724" y="3360215"/>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7" name="Google Shape;281;p18"/>
          <p:cNvSpPr txBox="1"/>
          <p:nvPr/>
        </p:nvSpPr>
        <p:spPr>
          <a:xfrm>
            <a:off x="1218724" y="439546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
        <p:nvSpPr>
          <p:cNvPr id="158" name="Google Shape;282;p18"/>
          <p:cNvSpPr txBox="1"/>
          <p:nvPr/>
        </p:nvSpPr>
        <p:spPr>
          <a:xfrm>
            <a:off x="1218724" y="5430713"/>
            <a:ext cx="7468552" cy="2569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2162"/>
              </a:lnSpc>
              <a:defRPr sz="1800">
                <a:solidFill>
                  <a:srgbClr val="2B3541"/>
                </a:solidFill>
                <a:latin typeface="Times New Roman"/>
                <a:ea typeface="Times New Roman"/>
                <a:cs typeface="Times New Roman"/>
                <a:sym typeface="Times New Roman"/>
              </a:defRPr>
            </a:lvl1pPr>
          </a:lstStyle>
          <a:p>
            <a:pPr/>
            <a: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extBox 5"/>
          <p:cNvSpPr txBox="1"/>
          <p:nvPr/>
        </p:nvSpPr>
        <p:spPr>
          <a:xfrm>
            <a:off x="373668" y="207380"/>
            <a:ext cx="6004562"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Certificates Earned:</a:t>
            </a:r>
          </a:p>
        </p:txBody>
      </p:sp>
      <p:sp>
        <p:nvSpPr>
          <p:cNvPr id="161" name="TextBox 2"/>
          <p:cNvSpPr txBox="1"/>
          <p:nvPr/>
        </p:nvSpPr>
        <p:spPr>
          <a:xfrm>
            <a:off x="597767" y="690060"/>
            <a:ext cx="6298526" cy="4862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vl1pPr>
          </a:lstStyle>
          <a:p>
            <a:pPr/>
            <a:r>
              <a:t>Credly certificate </a:t>
            </a:r>
          </a:p>
        </p:txBody>
      </p:sp>
      <p:pic>
        <p:nvPicPr>
          <p:cNvPr id="162" name="pasted-movie.png" descr="pasted-movie.png"/>
          <p:cNvPicPr>
            <a:picLocks noChangeAspect="1"/>
          </p:cNvPicPr>
          <p:nvPr/>
        </p:nvPicPr>
        <p:blipFill>
          <a:blip r:embed="rId2">
            <a:extLst/>
          </a:blip>
          <a:stretch>
            <a:fillRect/>
          </a:stretch>
        </p:blipFill>
        <p:spPr>
          <a:xfrm>
            <a:off x="2559588" y="1191172"/>
            <a:ext cx="7267320" cy="561806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TextBox 4"/>
          <p:cNvSpPr txBox="1"/>
          <p:nvPr/>
        </p:nvSpPr>
        <p:spPr>
          <a:xfrm>
            <a:off x="222415" y="226391"/>
            <a:ext cx="6004561" cy="64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a:pPr>
            <a:r>
              <a:t>Certificates Earned:</a:t>
            </a:r>
            <a:r>
              <a:rPr b="0"/>
              <a:t>​</a:t>
            </a:r>
          </a:p>
        </p:txBody>
      </p:sp>
      <p:sp>
        <p:nvSpPr>
          <p:cNvPr id="165" name="TextBox 5"/>
          <p:cNvSpPr txBox="1"/>
          <p:nvPr/>
        </p:nvSpPr>
        <p:spPr>
          <a:xfrm>
            <a:off x="542562" y="800469"/>
            <a:ext cx="5346243"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lvl1pPr>
          </a:lstStyle>
          <a:p>
            <a:pPr/>
            <a:r>
              <a:t>IBM BOB Certificate</a:t>
            </a:r>
          </a:p>
        </p:txBody>
      </p:sp>
      <p:pic>
        <p:nvPicPr>
          <p:cNvPr id="166" name="pasted-movie.png" descr="pasted-movie.png"/>
          <p:cNvPicPr>
            <a:picLocks noChangeAspect="1"/>
          </p:cNvPicPr>
          <p:nvPr/>
        </p:nvPicPr>
        <p:blipFill>
          <a:blip r:embed="rId2">
            <a:extLst/>
          </a:blip>
          <a:stretch>
            <a:fillRect/>
          </a:stretch>
        </p:blipFill>
        <p:spPr>
          <a:xfrm>
            <a:off x="2520980" y="1262612"/>
            <a:ext cx="8369511" cy="5192417"/>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Google Shape;310;p20" descr="Google Shape;310;p20"/>
          <p:cNvPicPr>
            <a:picLocks noChangeAspect="1"/>
          </p:cNvPicPr>
          <p:nvPr/>
        </p:nvPicPr>
        <p:blipFill>
          <a:blip r:embed="rId2">
            <a:extLst/>
          </a:blip>
          <a:stretch>
            <a:fillRect/>
          </a:stretch>
        </p:blipFill>
        <p:spPr>
          <a:xfrm>
            <a:off x="0" y="2190301"/>
            <a:ext cx="12192000" cy="247739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